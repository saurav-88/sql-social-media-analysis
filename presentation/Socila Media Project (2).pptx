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Corbel" panose="020B0503020204020204" pitchFamily="34" charset="0"/>
      <p:regular r:id="rId24"/>
      <p:bold r:id="rId25"/>
      <p:italic r:id="rId26"/>
      <p:boldItalic r:id="rId27"/>
    </p:embeddedFont>
    <p:embeddedFont>
      <p:font typeface="Lato" panose="020F0502020204030203" pitchFamily="34" charset="0"/>
      <p:regular r:id="rId28"/>
      <p:bold r:id="rId29"/>
      <p:italic r:id="rId30"/>
      <p:boldItalic r:id="rId31"/>
    </p:embeddedFont>
    <p:embeddedFont>
      <p:font typeface="Play" panose="020B060402020202020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jZyhD3cq1RpdR+LdTqGhCvYcKY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615C8C-7EDB-4248-9EB7-7697DC0955FA}">
  <a:tblStyle styleId="{19615C8C-7EDB-4248-9EB7-7697DC0955FA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F0F3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0F3E7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4EE5698-7E37-42B0-8F87-505A7D8146D6}" styleName="Table_1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10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viewProps" Target="viewProps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413542133334"/>
          <c:y val="2.7210109706501548E-2"/>
          <c:w val="0.79454340225201658"/>
          <c:h val="0.82479467575144527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/>
                </a:gs>
                <a:gs pos="90000">
                  <a:schemeClr val="accent1">
                    <a:shade val="100000"/>
                    <a:satMod val="105000"/>
                  </a:schemeClr>
                </a:gs>
                <a:gs pos="100000">
                  <a:schemeClr val="accent1">
                    <a:shade val="80000"/>
                    <a:satMod val="12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4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Sheet1!$I$195:$I$198</c:f>
              <c:strCache>
                <c:ptCount val="4"/>
                <c:pt idx="0">
                  <c:v>Low Active</c:v>
                </c:pt>
                <c:pt idx="1">
                  <c:v>Highly Active</c:v>
                </c:pt>
                <c:pt idx="2">
                  <c:v>Inactive</c:v>
                </c:pt>
                <c:pt idx="3">
                  <c:v>Moderately Active</c:v>
                </c:pt>
              </c:strCache>
            </c:strRef>
          </c:cat>
          <c:val>
            <c:numRef>
              <c:f>Sheet1!$J$195:$J$198</c:f>
              <c:numCache>
                <c:formatCode>General</c:formatCode>
                <c:ptCount val="4"/>
                <c:pt idx="0">
                  <c:v>8</c:v>
                </c:pt>
                <c:pt idx="1">
                  <c:v>77</c:v>
                </c:pt>
                <c:pt idx="2">
                  <c:v>13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D3-4AEF-BA5F-273B0735CB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04005120"/>
        <c:axId val="604005840"/>
      </c:barChart>
      <c:catAx>
        <c:axId val="6040051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SEGMENT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4005840"/>
        <c:crosses val="autoZero"/>
        <c:auto val="1"/>
        <c:lblAlgn val="ctr"/>
        <c:lblOffset val="100"/>
        <c:noMultiLvlLbl val="0"/>
      </c:catAx>
      <c:valAx>
        <c:axId val="604005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COUNT OF USER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40051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317650918635163"/>
          <c:y val="2.6823575945569455E-2"/>
          <c:w val="0.65883748906386697"/>
          <c:h val="0.84560161517480925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/>
                </a:gs>
                <a:gs pos="90000">
                  <a:schemeClr val="accent1">
                    <a:shade val="100000"/>
                    <a:satMod val="105000"/>
                  </a:schemeClr>
                </a:gs>
                <a:gs pos="100000">
                  <a:schemeClr val="accent1">
                    <a:shade val="80000"/>
                    <a:satMod val="12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4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Sheet1!$D$123:$D$142</c:f>
              <c:strCache>
                <c:ptCount val="20"/>
                <c:pt idx="0">
                  <c:v>delicious</c:v>
                </c:pt>
                <c:pt idx="1">
                  <c:v>beauty</c:v>
                </c:pt>
                <c:pt idx="2">
                  <c:v>foodie</c:v>
                </c:pt>
                <c:pt idx="3">
                  <c:v>stunning</c:v>
                </c:pt>
                <c:pt idx="4">
                  <c:v>food</c:v>
                </c:pt>
                <c:pt idx="5">
                  <c:v>photography</c:v>
                </c:pt>
                <c:pt idx="6">
                  <c:v>dreamy</c:v>
                </c:pt>
                <c:pt idx="7">
                  <c:v>smile</c:v>
                </c:pt>
                <c:pt idx="8">
                  <c:v>party</c:v>
                </c:pt>
                <c:pt idx="9">
                  <c:v>beach</c:v>
                </c:pt>
                <c:pt idx="10">
                  <c:v>landscape</c:v>
                </c:pt>
                <c:pt idx="11">
                  <c:v>style</c:v>
                </c:pt>
                <c:pt idx="12">
                  <c:v>drunk</c:v>
                </c:pt>
                <c:pt idx="13">
                  <c:v>happy</c:v>
                </c:pt>
                <c:pt idx="14">
                  <c:v>lol</c:v>
                </c:pt>
                <c:pt idx="15">
                  <c:v>sunrise</c:v>
                </c:pt>
                <c:pt idx="16">
                  <c:v>fun</c:v>
                </c:pt>
                <c:pt idx="17">
                  <c:v>hair</c:v>
                </c:pt>
                <c:pt idx="18">
                  <c:v>concert</c:v>
                </c:pt>
                <c:pt idx="19">
                  <c:v>fashion</c:v>
                </c:pt>
              </c:strCache>
            </c:strRef>
          </c:cat>
          <c:val>
            <c:numRef>
              <c:f>Sheet1!$E$123:$E$142</c:f>
              <c:numCache>
                <c:formatCode>General</c:formatCode>
                <c:ptCount val="20"/>
                <c:pt idx="0">
                  <c:v>65.27</c:v>
                </c:pt>
                <c:pt idx="1">
                  <c:v>65.150000000000006</c:v>
                </c:pt>
                <c:pt idx="2">
                  <c:v>64.64</c:v>
                </c:pt>
                <c:pt idx="3">
                  <c:v>64.42</c:v>
                </c:pt>
                <c:pt idx="4">
                  <c:v>64.13</c:v>
                </c:pt>
                <c:pt idx="5">
                  <c:v>64</c:v>
                </c:pt>
                <c:pt idx="6">
                  <c:v>63.9</c:v>
                </c:pt>
                <c:pt idx="7">
                  <c:v>63.69</c:v>
                </c:pt>
                <c:pt idx="8">
                  <c:v>63.44</c:v>
                </c:pt>
                <c:pt idx="9">
                  <c:v>63.43</c:v>
                </c:pt>
                <c:pt idx="10">
                  <c:v>63.29</c:v>
                </c:pt>
                <c:pt idx="11">
                  <c:v>63.29</c:v>
                </c:pt>
                <c:pt idx="12">
                  <c:v>63</c:v>
                </c:pt>
                <c:pt idx="13">
                  <c:v>63</c:v>
                </c:pt>
                <c:pt idx="14">
                  <c:v>63</c:v>
                </c:pt>
                <c:pt idx="15">
                  <c:v>63</c:v>
                </c:pt>
                <c:pt idx="16">
                  <c:v>62.89</c:v>
                </c:pt>
                <c:pt idx="17">
                  <c:v>62.87</c:v>
                </c:pt>
                <c:pt idx="18">
                  <c:v>62.54</c:v>
                </c:pt>
                <c:pt idx="19">
                  <c:v>62.53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26-4E68-AC15-21287FC133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605454368"/>
        <c:axId val="605451488"/>
      </c:barChart>
      <c:catAx>
        <c:axId val="60545436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NAME OF TAG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5451488"/>
        <c:crosses val="autoZero"/>
        <c:auto val="1"/>
        <c:lblAlgn val="ctr"/>
        <c:lblOffset val="100"/>
        <c:noMultiLvlLbl val="0"/>
      </c:catAx>
      <c:valAx>
        <c:axId val="6054514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ENGAGEMENT RATE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5454368"/>
        <c:crosses val="autoZero"/>
        <c:crossBetween val="between"/>
      </c:valAx>
      <c:spPr>
        <a:noFill/>
        <a:ln>
          <a:solidFill>
            <a:schemeClr val="bg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Sheet1!$A$90:$A$99</c:f>
              <c:strCache>
                <c:ptCount val="10"/>
                <c:pt idx="0">
                  <c:v>Eveline95</c:v>
                </c:pt>
                <c:pt idx="1">
                  <c:v>Cesar93</c:v>
                </c:pt>
                <c:pt idx="2">
                  <c:v>Clint27</c:v>
                </c:pt>
                <c:pt idx="3">
                  <c:v>Defina_VonRueden68</c:v>
                </c:pt>
                <c:pt idx="4">
                  <c:v>Aurelie71</c:v>
                </c:pt>
                <c:pt idx="5">
                  <c:v>Jaime53</c:v>
                </c:pt>
                <c:pt idx="6">
                  <c:v>Donald.Fritsch</c:v>
                </c:pt>
                <c:pt idx="7">
                  <c:v>Janet.Armstrong</c:v>
                </c:pt>
                <c:pt idx="8">
                  <c:v>Alexandro35</c:v>
                </c:pt>
                <c:pt idx="9">
                  <c:v>Zack_Kemmer93</c:v>
                </c:pt>
              </c:strCache>
            </c:strRef>
          </c:cat>
          <c:val>
            <c:numRef>
              <c:f>Sheet1!$B$90:$B$99</c:f>
              <c:numCache>
                <c:formatCode>General</c:formatCode>
                <c:ptCount val="10"/>
                <c:pt idx="0">
                  <c:v>417</c:v>
                </c:pt>
                <c:pt idx="1">
                  <c:v>395</c:v>
                </c:pt>
                <c:pt idx="2">
                  <c:v>386</c:v>
                </c:pt>
                <c:pt idx="3">
                  <c:v>356</c:v>
                </c:pt>
                <c:pt idx="4">
                  <c:v>326</c:v>
                </c:pt>
                <c:pt idx="5">
                  <c:v>310</c:v>
                </c:pt>
                <c:pt idx="6">
                  <c:v>253</c:v>
                </c:pt>
                <c:pt idx="7">
                  <c:v>227</c:v>
                </c:pt>
                <c:pt idx="8">
                  <c:v>225</c:v>
                </c:pt>
                <c:pt idx="9">
                  <c:v>224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09-4970-BA2F-CD23A672CAE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82202800"/>
        <c:axId val="582203520"/>
      </c:barChart>
      <c:catAx>
        <c:axId val="5822028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USERNAME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203520"/>
        <c:crosses val="autoZero"/>
        <c:auto val="1"/>
        <c:lblAlgn val="ctr"/>
        <c:lblOffset val="100"/>
        <c:noMultiLvlLbl val="0"/>
      </c:catAx>
      <c:valAx>
        <c:axId val="582203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ENGAGEMENT</a:t>
                </a:r>
                <a:r>
                  <a:rPr lang="en-US" baseline="0" dirty="0"/>
                  <a:t>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202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9"/>
          <p:cNvSpPr/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" name="Google Shape;14;p19"/>
          <p:cNvSpPr txBox="1"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orbel"/>
              <a:buNone/>
              <a:defRPr sz="7200" b="1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76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6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2000"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9" name="Google Shape;19;p19"/>
          <p:cNvCxnSpPr/>
          <p:nvPr/>
        </p:nvCxnSpPr>
        <p:spPr>
          <a:xfrm>
            <a:off x="1978660" y="3733800"/>
            <a:ext cx="8229601" cy="0"/>
          </a:xfrm>
          <a:prstGeom prst="straightConnector1">
            <a:avLst/>
          </a:prstGeom>
          <a:noFill/>
          <a:ln w="100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2004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body" idx="1"/>
          </p:nvPr>
        </p:nvSpPr>
        <p:spPr>
          <a:xfrm>
            <a:off x="1143000" y="2057399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036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marL="914400" lvl="1" indent="-330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marL="1828800" lvl="3" indent="-30988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marL="2286000" lvl="4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marL="2743200" lvl="5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marL="3200400" lvl="6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marL="3657600" lvl="7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marL="4114800" lvl="8" indent="-309879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body" idx="2"/>
          </p:nvPr>
        </p:nvSpPr>
        <p:spPr>
          <a:xfrm>
            <a:off x="6267612" y="20574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036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marL="914400" lvl="1" indent="-330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marL="1828800" lvl="3" indent="-30988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marL="2286000" lvl="4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marL="2743200" lvl="5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marL="3200400" lvl="6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marL="3657600" lvl="7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marL="4114800" lvl="8" indent="-309879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3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4"/>
          <p:cNvSpPr txBox="1"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Corbel"/>
              <a:buNone/>
              <a:defRPr sz="7200" b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8" name="Google Shape;48;p24"/>
          <p:cNvCxnSpPr/>
          <p:nvPr/>
        </p:nvCxnSpPr>
        <p:spPr>
          <a:xfrm>
            <a:off x="1981200" y="4020408"/>
            <a:ext cx="8229601" cy="0"/>
          </a:xfrm>
          <a:prstGeom prst="straightConnector1">
            <a:avLst/>
          </a:prstGeom>
          <a:noFill/>
          <a:ln w="100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2"/>
          </p:nvPr>
        </p:nvSpPr>
        <p:spPr>
          <a:xfrm>
            <a:off x="1143000" y="2721483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036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marL="914400" lvl="1" indent="-330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marL="1828800" lvl="3" indent="-30988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marL="2286000" lvl="4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marL="2743200" lvl="5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marL="3200400" lvl="6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marL="3657600" lvl="7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marL="4114800" lvl="8" indent="-309879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body" idx="3"/>
          </p:nvPr>
        </p:nvSpPr>
        <p:spPr>
          <a:xfrm>
            <a:off x="6269173" y="1999032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body" idx="4"/>
          </p:nvPr>
        </p:nvSpPr>
        <p:spPr>
          <a:xfrm>
            <a:off x="6269173" y="2719322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036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marL="914400" lvl="1" indent="-330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marL="1828800" lvl="3" indent="-30988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marL="2286000" lvl="4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marL="2743200" lvl="5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marL="3200400" lvl="6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marL="3657600" lvl="7" indent="-30987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marL="4114800" lvl="8" indent="-309879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orbel"/>
              <a:buNone/>
              <a:defRPr sz="4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body" idx="1"/>
          </p:nvPr>
        </p:nvSpPr>
        <p:spPr>
          <a:xfrm>
            <a:off x="5852159" y="1097280"/>
            <a:ext cx="521208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116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60"/>
              <a:buChar char="•"/>
              <a:defRPr sz="3200"/>
            </a:lvl1pPr>
            <a:lvl2pPr marL="914400" lvl="1" indent="-37084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240"/>
              <a:buChar char="•"/>
              <a:defRPr sz="2800"/>
            </a:lvl2pPr>
            <a:lvl3pPr marL="1371600" lvl="2" indent="-35051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920"/>
              <a:buChar char="•"/>
              <a:defRPr sz="2400"/>
            </a:lvl3pPr>
            <a:lvl4pPr marL="1828800" lvl="3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4pPr>
            <a:lvl5pPr marL="2286000" lvl="4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5pPr>
            <a:lvl6pPr marL="2743200" lvl="5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6pPr>
            <a:lvl7pPr marL="3200400" lvl="6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7pPr>
            <a:lvl8pPr marL="3657600" lvl="7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8pPr>
            <a:lvl9pPr marL="4114800" lvl="8" indent="-3302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2"/>
          </p:nvPr>
        </p:nvSpPr>
        <p:spPr>
          <a:xfrm>
            <a:off x="1143000" y="2834640"/>
            <a:ext cx="39319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60"/>
              <a:buNone/>
              <a:defRPr sz="1700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orbel"/>
              <a:buNone/>
              <a:defRPr sz="4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>
            <a:spLocks noGrp="1"/>
          </p:cNvSpPr>
          <p:nvPr>
            <p:ph type="pic" idx="2"/>
          </p:nvPr>
        </p:nvSpPr>
        <p:spPr>
          <a:xfrm>
            <a:off x="5413248" y="1069847"/>
            <a:ext cx="6099048" cy="4800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>
            <a:spLocks noGrp="1"/>
          </p:cNvSpPr>
          <p:nvPr>
            <p:ph type="body" idx="1"/>
          </p:nvPr>
        </p:nvSpPr>
        <p:spPr>
          <a:xfrm>
            <a:off x="1143000" y="2834640"/>
            <a:ext cx="3931920" cy="288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60"/>
              <a:buNone/>
              <a:defRPr sz="1700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body" idx="1"/>
          </p:nvPr>
        </p:nvSpPr>
        <p:spPr>
          <a:xfrm rot="5400000">
            <a:off x="4060136" y="-859736"/>
            <a:ext cx="4038600" cy="9872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2004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>
            <a:spLocks noGrp="1"/>
          </p:cNvSpPr>
          <p:nvPr>
            <p:ph type="title"/>
          </p:nvPr>
        </p:nvSpPr>
        <p:spPr>
          <a:xfrm rot="5400000">
            <a:off x="7181850" y="2305050"/>
            <a:ext cx="54102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body" idx="1"/>
          </p:nvPr>
        </p:nvSpPr>
        <p:spPr>
          <a:xfrm rot="5400000">
            <a:off x="2152650" y="-247650"/>
            <a:ext cx="5410200" cy="74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2004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/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" name="Google Shape;7;p18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  <a:defRPr sz="44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036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Corbel"/>
              <a:buChar char="•"/>
              <a:defRPr sz="22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orbel"/>
              <a:buChar char="•"/>
              <a:defRPr sz="20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2003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Corbel"/>
              <a:buChar char="•"/>
              <a:defRPr sz="18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09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0987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0987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0987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0987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09879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280"/>
              <a:buFont typeface="Corbel"/>
              <a:buChar char="•"/>
              <a:defRPr sz="16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9" name="Google Shape;9;p18"/>
          <p:cNvSpPr txBox="1">
            <a:spLocks noGrp="1"/>
          </p:cNvSpPr>
          <p:nvPr>
            <p:ph type="dt" idx="10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0" name="Google Shape;10;p18"/>
          <p:cNvSpPr txBox="1">
            <a:spLocks noGrp="1"/>
          </p:cNvSpPr>
          <p:nvPr>
            <p:ph type="ftr" idx="11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sldNum" idx="12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2945296" y="1985334"/>
            <a:ext cx="6039600" cy="17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lang="en-IN">
                <a:solidFill>
                  <a:schemeClr val="lt1"/>
                </a:solidFill>
              </a:rPr>
              <a:t>SOCIAL MEDIA ANALYSIS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67801" y="5469510"/>
            <a:ext cx="4052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b="1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Ashish Kumar</a:t>
            </a:r>
            <a:endParaRPr sz="3300" b="1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700" b="1">
                <a:solidFill>
                  <a:schemeClr val="lt1"/>
                </a:solidFill>
              </a:rPr>
              <a:t>25-12-2025</a:t>
            </a:r>
            <a:endParaRPr sz="2700" b="1">
              <a:solidFill>
                <a:schemeClr val="lt1"/>
              </a:solidFill>
            </a:endParaRPr>
          </a:p>
        </p:txBody>
      </p:sp>
      <p:pic>
        <p:nvPicPr>
          <p:cNvPr id="90" name="Google Shape;9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8725" y="441525"/>
            <a:ext cx="1543800" cy="15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1140351" y="480391"/>
            <a:ext cx="9875520" cy="9110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IN">
                <a:solidFill>
                  <a:schemeClr val="dk1"/>
                </a:solidFill>
              </a:rPr>
              <a:t>ABOUT META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1143000" y="1601856"/>
            <a:ext cx="9872871" cy="9110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2000">
                <a:solidFill>
                  <a:srgbClr val="262626"/>
                </a:solidFill>
              </a:rPr>
              <a:t>Meta Platforms, Inc. doing businesses as Meta and formerly named Facebook, Inc. The company owns and operates Facebook, Instagram, Threads and WhatsApp among other products and services.</a:t>
            </a:r>
            <a:endParaRPr/>
          </a:p>
          <a:p>
            <a:pPr marL="228600" lvl="0" indent="-7112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</a:pPr>
            <a:endParaRPr/>
          </a:p>
        </p:txBody>
      </p:sp>
      <p:pic>
        <p:nvPicPr>
          <p:cNvPr id="97" name="Google Shape;97;p2" descr="Measuring app campaigns on Meta in 2022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0351" y="2565236"/>
            <a:ext cx="9872871" cy="3812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IN" b="1">
                <a:solidFill>
                  <a:schemeClr val="dk1"/>
                </a:solidFill>
              </a:rPr>
              <a:t>AGENDA</a:t>
            </a:r>
            <a:endParaRPr b="1">
              <a:solidFill>
                <a:schemeClr val="dk1"/>
              </a:solidFill>
            </a:endParaRPr>
          </a:p>
        </p:txBody>
      </p:sp>
      <p:grpSp>
        <p:nvGrpSpPr>
          <p:cNvPr id="103" name="Google Shape;103;p3"/>
          <p:cNvGrpSpPr/>
          <p:nvPr/>
        </p:nvGrpSpPr>
        <p:grpSpPr>
          <a:xfrm>
            <a:off x="516903" y="2053093"/>
            <a:ext cx="11158194" cy="4111681"/>
            <a:chOff x="-199194" y="1658163"/>
            <a:chExt cx="12061341" cy="4157058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-199194" y="1658163"/>
              <a:ext cx="9634870" cy="4157057"/>
              <a:chOff x="1396157" y="4800600"/>
              <a:chExt cx="18335845" cy="7543800"/>
            </a:xfrm>
          </p:grpSpPr>
          <p:sp>
            <p:nvSpPr>
              <p:cNvPr id="105" name="Google Shape;105;p3"/>
              <p:cNvSpPr/>
              <p:nvPr/>
            </p:nvSpPr>
            <p:spPr>
              <a:xfrm>
                <a:off x="1396157" y="4800600"/>
                <a:ext cx="4405312" cy="7543800"/>
              </a:xfrm>
              <a:prstGeom prst="rect">
                <a:avLst/>
              </a:prstGeom>
              <a:solidFill>
                <a:srgbClr val="BBA6E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06" name="Google Shape;106;p3"/>
              <p:cNvSpPr/>
              <p:nvPr/>
            </p:nvSpPr>
            <p:spPr>
              <a:xfrm>
                <a:off x="6039668" y="4800600"/>
                <a:ext cx="4405312" cy="7543800"/>
              </a:xfrm>
              <a:prstGeom prst="rect">
                <a:avLst/>
              </a:prstGeom>
              <a:solidFill>
                <a:srgbClr val="FF99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>
                <a:off x="10683179" y="4800600"/>
                <a:ext cx="4405312" cy="7543800"/>
              </a:xfrm>
              <a:prstGeom prst="rect">
                <a:avLst/>
              </a:prstGeom>
              <a:solidFill>
                <a:srgbClr val="A5CC7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08" name="Google Shape;108;p3"/>
              <p:cNvSpPr/>
              <p:nvPr/>
            </p:nvSpPr>
            <p:spPr>
              <a:xfrm>
                <a:off x="15326690" y="4800600"/>
                <a:ext cx="4405312" cy="7543800"/>
              </a:xfrm>
              <a:prstGeom prst="rect">
                <a:avLst/>
              </a:prstGeom>
              <a:solidFill>
                <a:srgbClr val="89B8D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09" name="Google Shape;109;p3"/>
              <p:cNvSpPr txBox="1"/>
              <p:nvPr/>
            </p:nvSpPr>
            <p:spPr>
              <a:xfrm>
                <a:off x="2693054" y="6869873"/>
                <a:ext cx="2305595" cy="11728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3600" b="1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01</a:t>
                </a:r>
                <a:endParaRPr sz="2000" b="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10" name="Google Shape;110;p3"/>
              <p:cNvSpPr txBox="1"/>
              <p:nvPr/>
            </p:nvSpPr>
            <p:spPr>
              <a:xfrm>
                <a:off x="6639163" y="6869873"/>
                <a:ext cx="2305595" cy="12845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4000" b="1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02</a:t>
                </a:r>
                <a:endParaRPr/>
              </a:p>
            </p:txBody>
          </p:sp>
          <p:sp>
            <p:nvSpPr>
              <p:cNvPr id="111" name="Google Shape;111;p3"/>
              <p:cNvSpPr txBox="1"/>
              <p:nvPr/>
            </p:nvSpPr>
            <p:spPr>
              <a:xfrm>
                <a:off x="11231819" y="6869873"/>
                <a:ext cx="2305595" cy="11728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3600" b="1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03</a:t>
                </a:r>
                <a:endParaRPr/>
              </a:p>
            </p:txBody>
          </p:sp>
          <p:sp>
            <p:nvSpPr>
              <p:cNvPr id="112" name="Google Shape;112;p3"/>
              <p:cNvSpPr txBox="1"/>
              <p:nvPr/>
            </p:nvSpPr>
            <p:spPr>
              <a:xfrm>
                <a:off x="15875331" y="6869873"/>
                <a:ext cx="2305595" cy="11728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3600" b="1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04</a:t>
                </a:r>
                <a:endParaRPr/>
              </a:p>
            </p:txBody>
          </p:sp>
          <p:sp>
            <p:nvSpPr>
              <p:cNvPr id="113" name="Google Shape;113;p3"/>
              <p:cNvSpPr txBox="1"/>
              <p:nvPr/>
            </p:nvSpPr>
            <p:spPr>
              <a:xfrm>
                <a:off x="2121574" y="8559098"/>
                <a:ext cx="3100333" cy="12845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2000" b="1" i="0" u="none" strike="noStrike" cap="none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Problem Statement</a:t>
                </a:r>
                <a:endParaRPr/>
              </a:p>
            </p:txBody>
          </p:sp>
          <p:sp>
            <p:nvSpPr>
              <p:cNvPr id="114" name="Google Shape;114;p3"/>
              <p:cNvSpPr/>
              <p:nvPr/>
            </p:nvSpPr>
            <p:spPr>
              <a:xfrm>
                <a:off x="1985622" y="9115748"/>
                <a:ext cx="3372239" cy="4188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15" name="Google Shape;115;p3"/>
              <p:cNvSpPr txBox="1"/>
              <p:nvPr/>
            </p:nvSpPr>
            <p:spPr>
              <a:xfrm>
                <a:off x="6689965" y="8530972"/>
                <a:ext cx="3100333" cy="12845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2000" b="1" i="0" u="none" strike="noStrike" cap="none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Data Description</a:t>
                </a:r>
                <a:endParaRPr/>
              </a:p>
            </p:txBody>
          </p:sp>
          <p:sp>
            <p:nvSpPr>
              <p:cNvPr id="116" name="Google Shape;116;p3"/>
              <p:cNvSpPr txBox="1"/>
              <p:nvPr/>
            </p:nvSpPr>
            <p:spPr>
              <a:xfrm>
                <a:off x="10600161" y="8428228"/>
                <a:ext cx="4049556" cy="2055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1430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2000" b="1" i="0" u="none" strike="noStrike" cap="none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Key </a:t>
                </a:r>
                <a:r>
                  <a:rPr lang="en-IN" sz="2000" b="1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Findings</a:t>
                </a:r>
                <a:r>
                  <a:rPr lang="en-IN" sz="2000" b="1" i="0" u="none" strike="noStrike" cap="none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 and Visualizations</a:t>
                </a:r>
                <a:endParaRPr/>
              </a:p>
            </p:txBody>
          </p:sp>
          <p:sp>
            <p:nvSpPr>
              <p:cNvPr id="117" name="Google Shape;117;p3"/>
              <p:cNvSpPr txBox="1"/>
              <p:nvPr/>
            </p:nvSpPr>
            <p:spPr>
              <a:xfrm>
                <a:off x="15461663" y="8524223"/>
                <a:ext cx="3546141" cy="18634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2000" b="1" i="0" u="none" strike="noStrike" cap="none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Recommendatio</a:t>
                </a:r>
                <a:r>
                  <a:rPr lang="en-IN" sz="2000" b="1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ns and strategies</a:t>
                </a:r>
                <a:endParaRPr sz="20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18" name="Google Shape;118;p3"/>
            <p:cNvSpPr/>
            <p:nvPr/>
          </p:nvSpPr>
          <p:spPr>
            <a:xfrm>
              <a:off x="9547304" y="1658164"/>
              <a:ext cx="2314843" cy="4157057"/>
            </a:xfrm>
            <a:prstGeom prst="rect">
              <a:avLst/>
            </a:prstGeom>
            <a:solidFill>
              <a:srgbClr val="EEEEB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9" name="Google Shape;119;p3"/>
            <p:cNvSpPr txBox="1"/>
            <p:nvPr/>
          </p:nvSpPr>
          <p:spPr>
            <a:xfrm>
              <a:off x="9596857" y="3643636"/>
              <a:ext cx="2215737" cy="392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92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Conclusion</a:t>
              </a:r>
              <a:endParaRPr/>
            </a:p>
          </p:txBody>
        </p:sp>
        <p:sp>
          <p:nvSpPr>
            <p:cNvPr id="120" name="Google Shape;120;p3"/>
            <p:cNvSpPr txBox="1"/>
            <p:nvPr/>
          </p:nvSpPr>
          <p:spPr>
            <a:xfrm>
              <a:off x="10128358" y="2874515"/>
              <a:ext cx="1123222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3600" b="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05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875520" cy="80175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IN" b="1">
                <a:solidFill>
                  <a:schemeClr val="dk1"/>
                </a:solidFill>
              </a:rPr>
              <a:t>PROBLEM STATEMENT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142999" y="1563061"/>
            <a:ext cx="9875519" cy="156966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Analyze and  leverage Instagram's user data to develop targeted marketing strategies that will increase user engagement, retention, and acquisition. </a:t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27" name="Google Shape;127;p4" descr="How Data Analysis Improved Marketing ROI by 20%?"/>
          <p:cNvPicPr preferRelativeResize="0"/>
          <p:nvPr/>
        </p:nvPicPr>
        <p:blipFill rotWithShape="1">
          <a:blip r:embed="rId3">
            <a:alphaModFix/>
          </a:blip>
          <a:srcRect t="39385" b="16529"/>
          <a:stretch/>
        </p:blipFill>
        <p:spPr>
          <a:xfrm>
            <a:off x="245732" y="3625164"/>
            <a:ext cx="11691164" cy="2962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>
            <a:spLocks noGrp="1"/>
          </p:cNvSpPr>
          <p:nvPr>
            <p:ph type="title"/>
          </p:nvPr>
        </p:nvSpPr>
        <p:spPr>
          <a:xfrm>
            <a:off x="1484310" y="198783"/>
            <a:ext cx="10018713" cy="74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IN" b="1">
                <a:solidFill>
                  <a:schemeClr val="dk1"/>
                </a:solidFill>
              </a:rPr>
              <a:t>DATA DESCRIPTION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5"/>
          <p:cNvSpPr txBox="1">
            <a:spLocks noGrp="1"/>
          </p:cNvSpPr>
          <p:nvPr>
            <p:ph type="body" idx="1"/>
          </p:nvPr>
        </p:nvSpPr>
        <p:spPr>
          <a:xfrm>
            <a:off x="1482520" y="944218"/>
            <a:ext cx="5002832" cy="187518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IN" b="1">
                <a:solidFill>
                  <a:schemeClr val="dk1"/>
                </a:solidFill>
              </a:rPr>
              <a:t>Users:</a:t>
            </a:r>
            <a:endParaRPr/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IN">
                <a:solidFill>
                  <a:schemeClr val="dk1"/>
                </a:solidFill>
              </a:rPr>
              <a:t>id: Unique identifier for each users.</a:t>
            </a:r>
            <a:endParaRPr/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IN">
                <a:solidFill>
                  <a:schemeClr val="dk1"/>
                </a:solidFill>
              </a:rPr>
              <a:t>username: Name of the user.</a:t>
            </a:r>
            <a:endParaRPr/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IN">
                <a:solidFill>
                  <a:schemeClr val="dk1"/>
                </a:solidFill>
              </a:rPr>
              <a:t>created_at: Timestamp when the account is created.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4" name="Google Shape;134;p5"/>
          <p:cNvSpPr txBox="1">
            <a:spLocks noGrp="1"/>
          </p:cNvSpPr>
          <p:nvPr>
            <p:ph type="body" idx="2"/>
          </p:nvPr>
        </p:nvSpPr>
        <p:spPr>
          <a:xfrm>
            <a:off x="1482520" y="3091066"/>
            <a:ext cx="5002832" cy="3124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IN" b="1">
                <a:solidFill>
                  <a:schemeClr val="dk1"/>
                </a:solidFill>
              </a:rPr>
              <a:t>Photos:</a:t>
            </a:r>
            <a:endParaRPr/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IN">
                <a:solidFill>
                  <a:schemeClr val="dk1"/>
                </a:solidFill>
              </a:rPr>
              <a:t>id: Unique identifier of each photo uploaded.</a:t>
            </a:r>
            <a:endParaRPr/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IN">
                <a:solidFill>
                  <a:schemeClr val="dk1"/>
                </a:solidFill>
              </a:rPr>
              <a:t>image_url: web link of the photo uploaded.</a:t>
            </a:r>
            <a:endParaRPr/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IN">
                <a:solidFill>
                  <a:schemeClr val="dk1"/>
                </a:solidFill>
              </a:rPr>
              <a:t>user_id: id of the user who uploaded the photo.</a:t>
            </a:r>
            <a:endParaRPr/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IN">
                <a:solidFill>
                  <a:schemeClr val="dk1"/>
                </a:solidFill>
              </a:rPr>
              <a:t>created_dat: Timestamp of when the photo is uploaded.</a:t>
            </a:r>
            <a:endParaRPr/>
          </a:p>
          <a:p>
            <a:pPr marL="228600" lvl="0" indent="-79502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7483963" y="944218"/>
            <a:ext cx="3747255" cy="34163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Comments: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id: Unique identifier of each comment made to any photo posted.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comment_text: Comment made on the post.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user_id: id of the user who made the comment.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photo_id: id of the photo where the comment is made.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created_at: Timestamp of when the comment is made.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xfrm>
            <a:off x="334617" y="375381"/>
            <a:ext cx="10018713" cy="695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IN" b="1">
                <a:solidFill>
                  <a:schemeClr val="dk1"/>
                </a:solidFill>
              </a:rPr>
              <a:t>DATA DESCRIPTION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1" name="Google Shape;141;p6"/>
          <p:cNvSpPr txBox="1">
            <a:spLocks noGrp="1"/>
          </p:cNvSpPr>
          <p:nvPr>
            <p:ph type="body" idx="1"/>
          </p:nvPr>
        </p:nvSpPr>
        <p:spPr>
          <a:xfrm>
            <a:off x="1805608" y="1284163"/>
            <a:ext cx="4895055" cy="161806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IN" b="1">
                <a:solidFill>
                  <a:schemeClr val="dk1"/>
                </a:solidFill>
              </a:rPr>
              <a:t>Likes:</a:t>
            </a:r>
            <a:endParaRPr/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IN">
                <a:solidFill>
                  <a:schemeClr val="dk1"/>
                </a:solidFill>
              </a:rPr>
              <a:t>user_id: id of the user who made the like.</a:t>
            </a:r>
            <a:endParaRPr/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IN">
                <a:solidFill>
                  <a:schemeClr val="dk1"/>
                </a:solidFill>
              </a:rPr>
              <a:t>photo_id: id of the photo post being liked.</a:t>
            </a:r>
            <a:endParaRPr/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IN">
                <a:solidFill>
                  <a:schemeClr val="dk1"/>
                </a:solidFill>
              </a:rPr>
              <a:t>created_at: Timestamp of when the like is made.</a:t>
            </a:r>
            <a:endParaRPr/>
          </a:p>
          <a:p>
            <a:pPr marL="228600" lvl="0" indent="-96266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2" name="Google Shape;142;p6"/>
          <p:cNvSpPr txBox="1">
            <a:spLocks noGrp="1"/>
          </p:cNvSpPr>
          <p:nvPr>
            <p:ph type="body" idx="2"/>
          </p:nvPr>
        </p:nvSpPr>
        <p:spPr>
          <a:xfrm>
            <a:off x="7752521" y="1288125"/>
            <a:ext cx="2872409" cy="208455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IN" b="1">
                <a:solidFill>
                  <a:schemeClr val="dk1"/>
                </a:solidFill>
              </a:rPr>
              <a:t>Follows:</a:t>
            </a:r>
            <a:endParaRPr/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IN">
                <a:solidFill>
                  <a:schemeClr val="dk1"/>
                </a:solidFill>
              </a:rPr>
              <a:t>follower_id: id of the follower user.</a:t>
            </a:r>
            <a:endParaRPr/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IN">
                <a:solidFill>
                  <a:schemeClr val="dk1"/>
                </a:solidFill>
              </a:rPr>
              <a:t>followee_id: id of the followee user.</a:t>
            </a:r>
            <a:endParaRPr/>
          </a:p>
          <a:p>
            <a:pPr marL="22860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IN">
                <a:solidFill>
                  <a:schemeClr val="dk1"/>
                </a:solidFill>
              </a:rPr>
              <a:t>created_at: Timestamp of when the following happen.</a:t>
            </a:r>
            <a:endParaRPr/>
          </a:p>
          <a:p>
            <a:pPr marL="228600" lvl="0" indent="-96266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0000"/>
              <a:buFont typeface="Noto Sans Symbols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1805608" y="3796748"/>
            <a:ext cx="4895055" cy="147732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Tags: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id: Unique identifier of each tag.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tag_name: Name of the tag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created_at: Timestamp of when the tag is created.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7752520" y="3796748"/>
            <a:ext cx="2872409" cy="120032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photo_tags: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photo_id: id of the photo that have been tag.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tag_id: id of the tag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>
            <a:spLocks noGrp="1"/>
          </p:cNvSpPr>
          <p:nvPr>
            <p:ph type="title"/>
          </p:nvPr>
        </p:nvSpPr>
        <p:spPr>
          <a:xfrm>
            <a:off x="1484311" y="258418"/>
            <a:ext cx="10018713" cy="66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IN" b="1">
                <a:solidFill>
                  <a:schemeClr val="dk1"/>
                </a:solidFill>
              </a:rPr>
              <a:t>DATABASE SCHEMA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50" name="Google Shape;150;p7" descr="A computer screen shot of a computer scree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4311" y="959125"/>
            <a:ext cx="9163878" cy="49397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33000" endPos="28000" dist="5000" dir="5400000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>
            <a:spLocks noGrp="1"/>
          </p:cNvSpPr>
          <p:nvPr>
            <p:ph type="title"/>
          </p:nvPr>
        </p:nvSpPr>
        <p:spPr>
          <a:xfrm>
            <a:off x="251858" y="258419"/>
            <a:ext cx="10018713" cy="596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IN" b="1">
                <a:solidFill>
                  <a:schemeClr val="dk1"/>
                </a:solidFill>
              </a:rPr>
              <a:t>KEY FINDINGS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2976765" y="854767"/>
            <a:ext cx="5431735" cy="36933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USER DISTRIBUTION  BY ACTIVITY LEVEL</a:t>
            </a:r>
            <a:endParaRPr sz="18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157" name="Google Shape;157;p8"/>
          <p:cNvGraphicFramePr/>
          <p:nvPr/>
        </p:nvGraphicFramePr>
        <p:xfrm>
          <a:off x="442286" y="1326585"/>
          <a:ext cx="6713888" cy="4935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8" name="Google Shape;158;p8"/>
          <p:cNvSpPr txBox="1"/>
          <p:nvPr/>
        </p:nvSpPr>
        <p:spPr>
          <a:xfrm>
            <a:off x="7964692" y="2413337"/>
            <a:ext cx="3326160" cy="203132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u="sng">
                <a:solidFill>
                  <a:schemeClr val="dk1"/>
                </a:solidFill>
                <a:highlight>
                  <a:srgbClr val="FFFF00"/>
                </a:highlight>
                <a:latin typeface="Corbel"/>
                <a:ea typeface="Corbel"/>
                <a:cs typeface="Corbel"/>
                <a:sym typeface="Corbel"/>
              </a:rPr>
              <a:t>INSIGHTS: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Based on the segmentation, Majority of the users (77) falls into 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Highly Active 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segment, followed by 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Inactive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users, and then 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Low Active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and 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Moderately Active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segment.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/>
        </p:nvSpPr>
        <p:spPr>
          <a:xfrm>
            <a:off x="556591" y="297570"/>
            <a:ext cx="10952922" cy="646331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INACTIVE USERS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(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Users at risk of churn.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 sz="180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164" name="Google Shape;164;p9"/>
          <p:cNvGraphicFramePr/>
          <p:nvPr/>
        </p:nvGraphicFramePr>
        <p:xfrm>
          <a:off x="665923" y="112593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{19615C8C-7EDB-4248-9EB7-7697DC0955FA}</a:tableStyleId>
              </a:tblPr>
              <a:tblGrid>
                <a:gridCol w="591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/>
                        <a:t>There are 13 users who fall into this category: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Kasandra_Homenick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Tierra.Trantow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Pearl7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David.Osinski47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Morgan.Kassulke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Linnea59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Franco_Keebler64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Hulda.Macejkovic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Darby_Herzog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Esther.Zulauf61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Bartholome.Bernhard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Jessyca_West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Esmeralda.Mraz57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65" name="Google Shape;165;p9"/>
          <p:cNvSpPr/>
          <p:nvPr/>
        </p:nvSpPr>
        <p:spPr>
          <a:xfrm>
            <a:off x="6904382" y="2297983"/>
            <a:ext cx="4621695" cy="1858617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1"/>
          </a:solidFill>
          <a:ln w="19050" cap="flat" cmpd="sng">
            <a:solidFill>
              <a:srgbClr val="464D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These are the users who haven’t upload any post, like or comment on any post uploaded.</a:t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" name="Google Shape;170;p10"/>
          <p:cNvGraphicFramePr/>
          <p:nvPr/>
        </p:nvGraphicFramePr>
        <p:xfrm>
          <a:off x="482045" y="1302027"/>
          <a:ext cx="6137415" cy="48204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1" name="Google Shape;171;p10"/>
          <p:cNvSpPr txBox="1"/>
          <p:nvPr/>
        </p:nvSpPr>
        <p:spPr>
          <a:xfrm>
            <a:off x="1515717" y="449131"/>
            <a:ext cx="8617226" cy="646331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Hashtags with engagement rate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(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What content themes perform best?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 sz="180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6937513" y="1182756"/>
            <a:ext cx="4772441" cy="53553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u="sng">
                <a:solidFill>
                  <a:schemeClr val="dk1"/>
                </a:solidFill>
                <a:highlight>
                  <a:srgbClr val="FFFF00"/>
                </a:highlight>
                <a:latin typeface="Corbel"/>
                <a:ea typeface="Corbel"/>
                <a:cs typeface="Corbel"/>
                <a:sym typeface="Corbel"/>
              </a:rPr>
              <a:t>INSIGHTS: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Food-related tags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("delicious," "foodie," "food") 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lead with the highest engagement 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(~64-65)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 indicating strong user interest in food content.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Visual and aesthetic tags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("beauty," "sunset," "stunning," "photography," "landscape," "style") 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also perform very well, reflecting appeal in artistic and scenic content.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Emotional and social tags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("smile," "party," "happy," "fun," "lol") 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show healthy engagement, emphasizing the value of relatable, joyful content.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Lifestyle and fashion tags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("hair," "concert," "fashion") 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have moderate engagement around 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62.5-63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 suggesting steady interest in these niches.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/>
        </p:nvSpPr>
        <p:spPr>
          <a:xfrm>
            <a:off x="367747" y="346760"/>
            <a:ext cx="9640958" cy="36933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IDEAL USER FOR INFLUENCING MARKETING CAMPAIGN OR POTENTIAL BRAND AMBASSADORS</a:t>
            </a:r>
            <a:endParaRPr sz="18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178" name="Google Shape;178;p11"/>
          <p:cNvGraphicFramePr/>
          <p:nvPr/>
        </p:nvGraphicFramePr>
        <p:xfrm>
          <a:off x="467137" y="150268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{04EE5698-7E37-42B0-8F87-505A7D8146D6}</a:tableStyleId>
              </a:tblPr>
              <a:tblGrid>
                <a:gridCol w="195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USERNAME</a:t>
                      </a:r>
                      <a:endParaRPr sz="1800">
                        <a:solidFill>
                          <a:schemeClr val="dk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FOLLOWER COUNT</a:t>
                      </a:r>
                      <a:endParaRPr sz="1800">
                        <a:solidFill>
                          <a:schemeClr val="dk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AVG ENGAGEMENT RATE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Donald.Fritsch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65.33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77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Aurelie71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65.25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77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Cesar93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64.6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77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Florence99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64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77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Jaime53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62.5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77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Eveline95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62.41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77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Kenton_kirlin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62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77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2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Delfina_VonRueden68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62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77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Mariano_Koch3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61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77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Clint27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60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77</a:t>
                      </a:r>
                      <a:endParaRPr sz="18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79" name="Google Shape;179;p11"/>
          <p:cNvSpPr txBox="1"/>
          <p:nvPr/>
        </p:nvSpPr>
        <p:spPr>
          <a:xfrm>
            <a:off x="367747" y="768226"/>
            <a:ext cx="8825949" cy="64633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Ideal candidates for influencer marketing campaigns are users who have 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highest follower counts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 and 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strong engagement rates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 (many likes, comments per post). </a:t>
            </a:r>
            <a:endParaRPr/>
          </a:p>
        </p:txBody>
      </p:sp>
      <p:sp>
        <p:nvSpPr>
          <p:cNvPr id="180" name="Google Shape;180;p11"/>
          <p:cNvSpPr txBox="1"/>
          <p:nvPr/>
        </p:nvSpPr>
        <p:spPr>
          <a:xfrm>
            <a:off x="6549888" y="1484689"/>
            <a:ext cx="5062330" cy="50783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u="sng">
                <a:solidFill>
                  <a:schemeClr val="dk1"/>
                </a:solidFill>
                <a:highlight>
                  <a:srgbClr val="FFFF00"/>
                </a:highlight>
                <a:latin typeface="Play"/>
                <a:ea typeface="Play"/>
                <a:cs typeface="Play"/>
                <a:sym typeface="Play"/>
              </a:rPr>
              <a:t>RECOMMENDATION: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Personalized Outreach: 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Contact the influencer(s) with tailored proposals, referencing both their follower reach and engagement impact.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Offer Value: 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Suggest benefits such as exclusive access, partnerships, or compensation to incentivize collaboration.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Creative Freedom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: Empower influencers with flexibility in content creation for authenticity and better campaign results.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Long-Term Partnership: 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Consider ongoing ambassador roles for sustained brand visibility.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Performance Tracking: 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Measure influencer campaign effectiveness and refine selection/strategy based on future engagement metrics.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/>
          <p:nvPr/>
        </p:nvSpPr>
        <p:spPr>
          <a:xfrm>
            <a:off x="737154" y="367461"/>
            <a:ext cx="9140687" cy="646331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TOP 10 ENGAGED USERS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(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Power users who drive most interactions.</a:t>
            </a:r>
            <a:r>
              <a:rPr lang="en-IN" sz="18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)</a:t>
            </a:r>
            <a:endParaRPr sz="18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186" name="Google Shape;186;p12"/>
          <p:cNvGraphicFramePr/>
          <p:nvPr/>
        </p:nvGraphicFramePr>
        <p:xfrm>
          <a:off x="737154" y="1323054"/>
          <a:ext cx="6796707" cy="4770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7" name="Google Shape;187;p12"/>
          <p:cNvSpPr txBox="1"/>
          <p:nvPr/>
        </p:nvSpPr>
        <p:spPr>
          <a:xfrm>
            <a:off x="8155056" y="1295186"/>
            <a:ext cx="3250096" cy="175432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u="sng">
                <a:solidFill>
                  <a:schemeClr val="dk1"/>
                </a:solidFill>
                <a:highlight>
                  <a:srgbClr val="FFFF00"/>
                </a:highlight>
                <a:latin typeface="Corbel"/>
                <a:ea typeface="Corbel"/>
                <a:cs typeface="Corbel"/>
                <a:sym typeface="Corbel"/>
              </a:rPr>
              <a:t>INSIGHTS: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These are the top 10 users with highest engagement score (count of post they made, and number of likes and comments on their posts)</a:t>
            </a:r>
            <a:endParaRPr/>
          </a:p>
        </p:txBody>
      </p:sp>
      <p:sp>
        <p:nvSpPr>
          <p:cNvPr id="188" name="Google Shape;188;p12"/>
          <p:cNvSpPr txBox="1"/>
          <p:nvPr/>
        </p:nvSpPr>
        <p:spPr>
          <a:xfrm>
            <a:off x="8155056" y="3508513"/>
            <a:ext cx="3250096" cy="258532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u="sng">
                <a:solidFill>
                  <a:schemeClr val="dk1"/>
                </a:solidFill>
                <a:highlight>
                  <a:srgbClr val="FFFF00"/>
                </a:highlight>
                <a:latin typeface="Corbel"/>
                <a:ea typeface="Corbel"/>
                <a:cs typeface="Corbel"/>
                <a:sym typeface="Corbel"/>
              </a:rPr>
              <a:t>RECOMMENDATION: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Assign reward tiers based on rank as: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Rank 1 🡪 'Gold - Exclusive Access + Gifts'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Rank 2-5 🡪 'Silver - Discounts + Badges'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Rank 6-10 🡪 'Bronze - Recognition + Small Perks' </a:t>
            </a: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 txBox="1"/>
          <p:nvPr/>
        </p:nvSpPr>
        <p:spPr>
          <a:xfrm>
            <a:off x="2299252" y="653823"/>
            <a:ext cx="7066722" cy="3693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REWARD STRATEGY FOR ENGAGED USERS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490329" y="1767006"/>
            <a:ext cx="11211340" cy="203132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u="sng">
                <a:solidFill>
                  <a:schemeClr val="dk1"/>
                </a:solidFill>
                <a:highlight>
                  <a:srgbClr val="FFFF00"/>
                </a:highlight>
                <a:latin typeface="Corbel"/>
                <a:ea typeface="Corbel"/>
                <a:cs typeface="Corbel"/>
                <a:sym typeface="Corbel"/>
              </a:rPr>
              <a:t>RECOMMENDATION: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Focus on nurturing and rewarding 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Highly active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segment via exclusive perks, content creator programs, and brand ambassador roles.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For 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inactive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user segment, deploy win-back campaigns, personalized notifications, and incentives to reactivate.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Encourage gradual increase in participation with gamification and tailored content for 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low active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segment.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Investigate definitions or consider regrouping for better balance for 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moderately active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segment.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 txBox="1"/>
          <p:nvPr/>
        </p:nvSpPr>
        <p:spPr>
          <a:xfrm>
            <a:off x="2743201" y="524873"/>
            <a:ext cx="6132443" cy="3693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RE-ENGAGEMENT STRATEGY FOR INACTIVE USERS</a:t>
            </a:r>
            <a:endParaRPr/>
          </a:p>
        </p:txBody>
      </p:sp>
      <p:grpSp>
        <p:nvGrpSpPr>
          <p:cNvPr id="200" name="Google Shape;200;p14"/>
          <p:cNvGrpSpPr/>
          <p:nvPr/>
        </p:nvGrpSpPr>
        <p:grpSpPr>
          <a:xfrm>
            <a:off x="755375" y="2084119"/>
            <a:ext cx="10535478" cy="4249008"/>
            <a:chOff x="0" y="0"/>
            <a:chExt cx="6229167" cy="3771588"/>
          </a:xfrm>
        </p:grpSpPr>
        <p:sp>
          <p:nvSpPr>
            <p:cNvPr id="201" name="Google Shape;201;p14"/>
            <p:cNvSpPr/>
            <p:nvPr/>
          </p:nvSpPr>
          <p:spPr>
            <a:xfrm>
              <a:off x="17597" y="0"/>
              <a:ext cx="2878790" cy="65854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rgbClr val="7985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orbel"/>
                <a:buNone/>
              </a:pPr>
              <a:r>
                <a:rPr lang="en-IN" sz="2000" b="1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1.Identify Inactive Users</a:t>
              </a:r>
              <a:endParaRPr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0" y="838034"/>
              <a:ext cx="2878790" cy="70211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rgbClr val="7985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orbel"/>
                <a:buNone/>
              </a:pPr>
              <a:r>
                <a:rPr lang="en-IN" sz="2000" b="1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3.Incentivize Return </a:t>
              </a:r>
              <a:r>
                <a:rPr lang="en-IN" sz="20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(Offer bonuses, sneak peeks, or exclusive content.)</a:t>
              </a:r>
              <a:endParaRPr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17597" y="1640453"/>
              <a:ext cx="2878790" cy="61589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rgbClr val="7985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orbel"/>
                <a:buNone/>
              </a:pPr>
              <a:r>
                <a:rPr lang="en-IN" sz="2000" b="1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5.Reward First Action  </a:t>
              </a:r>
              <a:r>
                <a:rPr lang="en-IN" sz="20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(</a:t>
              </a:r>
              <a:r>
                <a:rPr lang="en-IN" sz="2000" b="1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Give badges, </a:t>
              </a:r>
              <a:r>
                <a:rPr lang="en-IN" sz="20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    </a:t>
              </a:r>
              <a:r>
                <a:rPr lang="en-IN" sz="2000" b="1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points, or discounts.</a:t>
              </a:r>
              <a:r>
                <a:rPr lang="en-IN" sz="20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)</a:t>
              </a:r>
              <a:endParaRPr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0" y="2361925"/>
              <a:ext cx="2878790" cy="64756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rgbClr val="7985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orbel"/>
                <a:buNone/>
              </a:pPr>
              <a:r>
                <a:rPr lang="en-IN" sz="2000" b="1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7.Inspire with Peers – </a:t>
              </a:r>
              <a:r>
                <a:rPr lang="en-IN" sz="20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(</a:t>
              </a:r>
              <a:r>
                <a:rPr lang="en-IN" sz="2000" b="1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Highlight trending or popular posts from others.</a:t>
              </a:r>
              <a:r>
                <a:rPr lang="en-IN" sz="20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)</a:t>
              </a:r>
              <a:endParaRPr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17597" y="3116721"/>
              <a:ext cx="2878790" cy="654867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rgbClr val="7985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orbel"/>
                <a:buNone/>
              </a:pPr>
              <a:r>
                <a:rPr lang="en-IN" sz="2000" b="1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9.Provide Support – Offer quick help or tips to resolve issues.</a:t>
              </a:r>
              <a:endParaRPr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3350377" y="0"/>
              <a:ext cx="2878790" cy="70077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rgbClr val="7985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orbel"/>
                <a:buNone/>
              </a:pPr>
              <a:r>
                <a:rPr lang="en-IN" sz="2000" b="1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2.Personalized Outreach </a:t>
              </a:r>
              <a:r>
                <a:rPr lang="en-IN" sz="20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(Remind with emails or push notifications.)</a:t>
              </a:r>
              <a:endParaRPr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3350377" y="880267"/>
              <a:ext cx="2878790" cy="62293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rgbClr val="7985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orbel"/>
                <a:buNone/>
              </a:pPr>
              <a:r>
                <a:rPr lang="en-IN" sz="2000" b="1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4.Simplify Posting </a:t>
              </a:r>
              <a:r>
                <a:rPr lang="en-IN" sz="20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(Provide templates or suggestions for easy content creation.)</a:t>
              </a:r>
              <a:endParaRPr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3350377" y="1640453"/>
              <a:ext cx="2878790" cy="5631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rgbClr val="7985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orbel"/>
                <a:buNone/>
              </a:pPr>
              <a:r>
                <a:rPr lang="en-IN" sz="2000" b="1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6.Gamify Participation</a:t>
              </a:r>
              <a:r>
                <a:rPr lang="en-IN" sz="20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 </a:t>
              </a:r>
              <a:r>
                <a:rPr lang="en-IN" sz="2000" b="1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 </a:t>
              </a:r>
              <a:r>
                <a:rPr lang="en-IN" sz="20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 (</a:t>
              </a:r>
              <a:r>
                <a:rPr lang="en-IN" sz="2000" b="1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Run contests, challenges, or giveaways.</a:t>
              </a:r>
              <a:r>
                <a:rPr lang="en-IN" sz="20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)</a:t>
              </a:r>
              <a:endParaRPr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3350377" y="2361925"/>
              <a:ext cx="2878790" cy="64756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rgbClr val="7985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orbel"/>
                <a:buNone/>
              </a:pPr>
              <a:r>
                <a:rPr lang="en-IN" sz="2000" b="1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8.Personalized Feed – </a:t>
              </a:r>
              <a:r>
                <a:rPr lang="en-IN" sz="20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(</a:t>
              </a:r>
              <a:r>
                <a:rPr lang="en-IN" sz="2000" b="1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Show hot topics and relevant interests.</a:t>
              </a:r>
              <a:r>
                <a:rPr lang="en-IN" sz="20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)</a:t>
              </a:r>
              <a:endParaRPr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0" name="Google Shape;210;p14"/>
            <p:cNvSpPr/>
            <p:nvPr/>
          </p:nvSpPr>
          <p:spPr>
            <a:xfrm>
              <a:off x="3350377" y="3116721"/>
              <a:ext cx="2878790" cy="654867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rgbClr val="7985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orbel"/>
                <a:buNone/>
              </a:pPr>
              <a:r>
                <a:rPr lang="en-IN" sz="2000" b="1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10.Measure &amp; Optimize – </a:t>
              </a:r>
              <a:r>
                <a:rPr lang="en-IN" sz="20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(</a:t>
              </a:r>
              <a:r>
                <a:rPr lang="en-IN" sz="2000" b="1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Track re-engagement and refine strategies.</a:t>
              </a:r>
              <a:r>
                <a:rPr lang="en-IN" sz="20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)</a:t>
              </a:r>
              <a:endParaRPr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2928061" y="276482"/>
              <a:ext cx="422316" cy="10558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9050" cap="flat" cmpd="sng">
              <a:solidFill>
                <a:srgbClr val="7985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2928061" y="1175895"/>
              <a:ext cx="422316" cy="10558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9050" cap="flat" cmpd="sng">
              <a:solidFill>
                <a:srgbClr val="7985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2912224" y="1895608"/>
              <a:ext cx="422316" cy="10558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9050" cap="flat" cmpd="sng">
              <a:solidFill>
                <a:srgbClr val="7985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2903426" y="2632918"/>
              <a:ext cx="422316" cy="10558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9050" cap="flat" cmpd="sng">
              <a:solidFill>
                <a:srgbClr val="7985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2903426" y="3391363"/>
              <a:ext cx="422316" cy="10558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9050" cap="flat" cmpd="sng">
              <a:solidFill>
                <a:srgbClr val="7985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216" name="Google Shape;216;p14"/>
            <p:cNvCxnSpPr/>
            <p:nvPr/>
          </p:nvCxnSpPr>
          <p:spPr>
            <a:xfrm flipH="1">
              <a:off x="2912224" y="700778"/>
              <a:ext cx="471587" cy="274512"/>
            </a:xfrm>
            <a:prstGeom prst="curvedConnector3">
              <a:avLst>
                <a:gd name="adj1" fmla="val 50000"/>
              </a:avLst>
            </a:prstGeom>
            <a:noFill/>
            <a:ln w="100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7" name="Google Shape;217;p14"/>
            <p:cNvCxnSpPr/>
            <p:nvPr/>
          </p:nvCxnSpPr>
          <p:spPr>
            <a:xfrm flipH="1">
              <a:off x="2878790" y="1438088"/>
              <a:ext cx="471587" cy="274512"/>
            </a:xfrm>
            <a:prstGeom prst="curvedConnector3">
              <a:avLst>
                <a:gd name="adj1" fmla="val 50000"/>
              </a:avLst>
            </a:prstGeom>
            <a:noFill/>
            <a:ln w="100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8" name="Google Shape;218;p14"/>
            <p:cNvCxnSpPr/>
            <p:nvPr/>
          </p:nvCxnSpPr>
          <p:spPr>
            <a:xfrm flipH="1">
              <a:off x="2887589" y="2203553"/>
              <a:ext cx="471587" cy="274512"/>
            </a:xfrm>
            <a:prstGeom prst="curvedConnector3">
              <a:avLst>
                <a:gd name="adj1" fmla="val 50000"/>
              </a:avLst>
            </a:prstGeom>
            <a:noFill/>
            <a:ln w="100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9" name="Google Shape;219;p14"/>
            <p:cNvCxnSpPr/>
            <p:nvPr/>
          </p:nvCxnSpPr>
          <p:spPr>
            <a:xfrm flipH="1">
              <a:off x="2903426" y="2953181"/>
              <a:ext cx="471587" cy="274512"/>
            </a:xfrm>
            <a:prstGeom prst="curvedConnector3">
              <a:avLst>
                <a:gd name="adj1" fmla="val 50000"/>
              </a:avLst>
            </a:prstGeom>
            <a:noFill/>
            <a:ln w="100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20" name="Google Shape;220;p14"/>
          <p:cNvSpPr txBox="1"/>
          <p:nvPr/>
        </p:nvSpPr>
        <p:spPr>
          <a:xfrm>
            <a:off x="2703862" y="982626"/>
            <a:ext cx="6211119" cy="92333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u="sng">
                <a:solidFill>
                  <a:schemeClr val="dk1"/>
                </a:solidFill>
                <a:highlight>
                  <a:srgbClr val="FFFF00"/>
                </a:highlight>
                <a:latin typeface="Corbel"/>
                <a:ea typeface="Corbel"/>
                <a:cs typeface="Corbel"/>
                <a:sym typeface="Corbel"/>
              </a:rPr>
              <a:t>RECOMMENDATION: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(To re-engage them and encourage them to start posting or engaging again)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/>
        </p:nvSpPr>
        <p:spPr>
          <a:xfrm>
            <a:off x="584752" y="1669773"/>
            <a:ext cx="11022495" cy="369331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u="sng">
                <a:solidFill>
                  <a:schemeClr val="dk1"/>
                </a:solidFill>
                <a:highlight>
                  <a:srgbClr val="FFFF00"/>
                </a:highlight>
                <a:latin typeface="Corbel"/>
                <a:ea typeface="Corbel"/>
                <a:cs typeface="Corbel"/>
                <a:sym typeface="Corbel"/>
              </a:rPr>
              <a:t>RECOMMENDATIONS: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Create and promote content focused on highly engaging themes like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food 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and 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visual beauty 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maximize user interaction.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 these top hashtags strategically in posts and ads to increase reach and visibility.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Combine popular tags with 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emotional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or 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social themes 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make content more relatable and shareable.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Track changes in engagement scores over time to stay updated with evolving trends.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Design ads around high-performing content topics for better resonance and effectiveness.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 data-driven selection of hashtags in sponsored posts to boost ad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ROI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Regularly update hashtag analysis to spot emerging topics.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Suggest high-engagement hashtags to users during posting to help them get discovered, increasing platform-wide engagement.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6" name="Google Shape;226;p15"/>
          <p:cNvSpPr txBox="1"/>
          <p:nvPr/>
        </p:nvSpPr>
        <p:spPr>
          <a:xfrm>
            <a:off x="2136914" y="553145"/>
            <a:ext cx="6907696" cy="3693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CONTENT STRATEGY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/>
          <p:nvPr/>
        </p:nvSpPr>
        <p:spPr>
          <a:xfrm>
            <a:off x="927652" y="1480930"/>
            <a:ext cx="5542722" cy="424731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analysis highlights clear opportunities to 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boost engagement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by focusing on highly active users while re-engaging inactive ones.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Food, visual, and emotional content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drive the highest interaction, making them ideal themes for targeted campaigns.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Influencer partnerships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with users having both reach and engagement potential can amplify brand visibility.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Segment-based strategies (active, low active, inactive) ensure a 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personalized and effective approach</a:t>
            </a: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to user retention and growth.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IN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Overall, leveraging these insights can </a:t>
            </a:r>
            <a:r>
              <a:rPr lang="en-IN" sz="1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enhance marketing ROI, strengthen community bonds, and sustain long-term user acquisition.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1038637" y="506821"/>
            <a:ext cx="311591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u="sng">
                <a:solidFill>
                  <a:schemeClr val="dk1"/>
                </a:solidFill>
                <a:highlight>
                  <a:srgbClr val="FFFF00"/>
                </a:highlight>
                <a:latin typeface="Corbel"/>
                <a:ea typeface="Corbel"/>
                <a:cs typeface="Corbel"/>
                <a:sym typeface="Corbel"/>
              </a:rPr>
              <a:t>CONCLUSION:</a:t>
            </a:r>
            <a:endParaRPr sz="3200" b="1" u="sng">
              <a:solidFill>
                <a:schemeClr val="dk1"/>
              </a:solidFill>
              <a:highlight>
                <a:srgbClr val="FFFF00"/>
              </a:highlight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33" name="Google Shape;233;p16" descr="Sharing Ideas Stock Vector Illustration And Royalty Free Sharing Ideas  Clipart | Ideas Clip Art | gonzaleschurchofchrist.org"/>
          <p:cNvPicPr preferRelativeResize="0"/>
          <p:nvPr/>
        </p:nvPicPr>
        <p:blipFill rotWithShape="1">
          <a:blip r:embed="rId3">
            <a:alphaModFix/>
          </a:blip>
          <a:srcRect l="6047" t="1774" r="8349" b="3226"/>
          <a:stretch/>
        </p:blipFill>
        <p:spPr>
          <a:xfrm>
            <a:off x="6606436" y="421374"/>
            <a:ext cx="4922729" cy="6015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7373" y="494634"/>
            <a:ext cx="9757253" cy="6025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1302</Words>
  <Application>Microsoft Office PowerPoint</Application>
  <PresentationFormat>Widescreen</PresentationFormat>
  <Paragraphs>170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Corbel</vt:lpstr>
      <vt:lpstr>Century Gothic</vt:lpstr>
      <vt:lpstr>Play</vt:lpstr>
      <vt:lpstr>Lato</vt:lpstr>
      <vt:lpstr>Noto Sans Symbols</vt:lpstr>
      <vt:lpstr>Basis</vt:lpstr>
      <vt:lpstr>SOCIAL MEDIA ANALYSIS</vt:lpstr>
      <vt:lpstr>ABOUT META</vt:lpstr>
      <vt:lpstr>AGENDA</vt:lpstr>
      <vt:lpstr>PROBLEM STATEMENT</vt:lpstr>
      <vt:lpstr>DATA DESCRIPTION</vt:lpstr>
      <vt:lpstr>DATA DESCRIPTION</vt:lpstr>
      <vt:lpstr>DATABASE SCHEMA</vt:lpstr>
      <vt:lpstr>KEY FINDINGS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inspire4858@gmail.com</dc:creator>
  <cp:lastModifiedBy>Saurav Sharma</cp:lastModifiedBy>
  <cp:revision>1</cp:revision>
  <dcterms:created xsi:type="dcterms:W3CDTF">2025-09-03T13:03:58Z</dcterms:created>
  <dcterms:modified xsi:type="dcterms:W3CDTF">2026-01-07T15:00:03Z</dcterms:modified>
</cp:coreProperties>
</file>